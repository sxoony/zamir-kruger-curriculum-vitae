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7556500" cy="10693400"/>
  <p:notesSz cx="6858000" cy="9144000"/>
  <p:embeddedFontLst>
    <p:embeddedFont>
      <p:font typeface="Poppins" panose="00000500000000000000" pitchFamily="2" charset="0"/>
      <p:regular r:id="rId4"/>
    </p:embeddedFont>
    <p:embeddedFont>
      <p:font typeface="Poppins Bold" panose="020B0604020202020204" charset="0"/>
      <p:regular r:id="rId5"/>
    </p:embeddedFont>
    <p:embeddedFont>
      <p:font typeface="Poppins Ultra-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17C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318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F9E9A-16E5-4052-BD3F-8B56D1450ABF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20E48-9DAC-4FC3-8CAB-D768BEC7B4E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25575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20E48-9DAC-4FC3-8CAB-D768BEC7B4E4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30337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xoony/MaterialBusiness" TargetMode="External"/><Relationship Id="rId13" Type="http://schemas.openxmlformats.org/officeDocument/2006/relationships/image" Target="../media/image5.png"/><Relationship Id="rId3" Type="http://schemas.openxmlformats.org/officeDocument/2006/relationships/image" Target="../media/image1.svg"/><Relationship Id="rId7" Type="http://schemas.openxmlformats.org/officeDocument/2006/relationships/hyperlink" Target="https://github.com/Sxoony/WebProject" TargetMode="External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arvelmods.com/forum/index.php/topic,11253.msg202936.html#msg202936" TargetMode="External"/><Relationship Id="rId11" Type="http://schemas.openxmlformats.org/officeDocument/2006/relationships/hyperlink" Target="http://www.linkedin.com/in/zamir-kruger" TargetMode="External"/><Relationship Id="rId5" Type="http://schemas.openxmlformats.org/officeDocument/2006/relationships/image" Target="../media/image3.svg"/><Relationship Id="rId10" Type="http://schemas.openxmlformats.org/officeDocument/2006/relationships/hyperlink" Target="https://github.com/Sxoony" TargetMode="External"/><Relationship Id="rId4" Type="http://schemas.openxmlformats.org/officeDocument/2006/relationships/image" Target="../media/image2.svg"/><Relationship Id="rId9" Type="http://schemas.openxmlformats.org/officeDocument/2006/relationships/hyperlink" Target="mailto:zamir7364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">
            <a:extLst>
              <a:ext uri="{FF2B5EF4-FFF2-40B4-BE49-F238E27FC236}">
                <a16:creationId xmlns:a16="http://schemas.microsoft.com/office/drawing/2014/main" id="{73EACB5F-FC64-7567-D348-2ECC6E18EBFB}"/>
              </a:ext>
            </a:extLst>
          </p:cNvPr>
          <p:cNvGrpSpPr/>
          <p:nvPr/>
        </p:nvGrpSpPr>
        <p:grpSpPr>
          <a:xfrm rot="-5400000">
            <a:off x="227513" y="6206955"/>
            <a:ext cx="2159554" cy="2238325"/>
            <a:chOff x="0" y="0"/>
            <a:chExt cx="497309" cy="802165"/>
          </a:xfrm>
        </p:grpSpPr>
        <p:sp>
          <p:nvSpPr>
            <p:cNvPr id="88" name="Freeform 9">
              <a:extLst>
                <a:ext uri="{FF2B5EF4-FFF2-40B4-BE49-F238E27FC236}">
                  <a16:creationId xmlns:a16="http://schemas.microsoft.com/office/drawing/2014/main" id="{56C00902-933B-4FD1-CFDE-12BD38DB8A19}"/>
                </a:ext>
              </a:extLst>
            </p:cNvPr>
            <p:cNvSpPr/>
            <p:nvPr/>
          </p:nvSpPr>
          <p:spPr>
            <a:xfrm>
              <a:off x="0" y="0"/>
              <a:ext cx="497309" cy="802165"/>
            </a:xfrm>
            <a:custGeom>
              <a:avLst/>
              <a:gdLst/>
              <a:ahLst/>
              <a:cxnLst/>
              <a:rect l="l" t="t" r="r" b="b"/>
              <a:pathLst>
                <a:path w="497309" h="802165">
                  <a:moveTo>
                    <a:pt x="0" y="0"/>
                  </a:moveTo>
                  <a:lnTo>
                    <a:pt x="497309" y="0"/>
                  </a:lnTo>
                  <a:lnTo>
                    <a:pt x="497309" y="802165"/>
                  </a:lnTo>
                  <a:lnTo>
                    <a:pt x="0" y="80216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89" name="TextBox 10">
              <a:extLst>
                <a:ext uri="{FF2B5EF4-FFF2-40B4-BE49-F238E27FC236}">
                  <a16:creationId xmlns:a16="http://schemas.microsoft.com/office/drawing/2014/main" id="{145B0E6F-4290-05F4-693C-B50EF5D1A43E}"/>
                </a:ext>
              </a:extLst>
            </p:cNvPr>
            <p:cNvSpPr txBox="1"/>
            <p:nvPr/>
          </p:nvSpPr>
          <p:spPr>
            <a:xfrm>
              <a:off x="0" y="-19050"/>
              <a:ext cx="497309" cy="8212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0"/>
                </a:lnSpc>
              </a:pPr>
              <a:endParaRPr/>
            </a:p>
          </p:txBody>
        </p:sp>
      </p:grpSp>
      <p:grpSp>
        <p:nvGrpSpPr>
          <p:cNvPr id="84" name="Group 8">
            <a:extLst>
              <a:ext uri="{FF2B5EF4-FFF2-40B4-BE49-F238E27FC236}">
                <a16:creationId xmlns:a16="http://schemas.microsoft.com/office/drawing/2014/main" id="{359DEF4A-0B29-B9D9-1BD9-2DAA6EA3F0FF}"/>
              </a:ext>
            </a:extLst>
          </p:cNvPr>
          <p:cNvGrpSpPr/>
          <p:nvPr/>
        </p:nvGrpSpPr>
        <p:grpSpPr>
          <a:xfrm rot="-5400000">
            <a:off x="-72425" y="3637881"/>
            <a:ext cx="2759431" cy="2238325"/>
            <a:chOff x="0" y="0"/>
            <a:chExt cx="497309" cy="802165"/>
          </a:xfrm>
        </p:grpSpPr>
        <p:sp>
          <p:nvSpPr>
            <p:cNvPr id="85" name="Freeform 9">
              <a:extLst>
                <a:ext uri="{FF2B5EF4-FFF2-40B4-BE49-F238E27FC236}">
                  <a16:creationId xmlns:a16="http://schemas.microsoft.com/office/drawing/2014/main" id="{9581C5B5-00F7-7FD9-1EEC-CC76F4FBD573}"/>
                </a:ext>
              </a:extLst>
            </p:cNvPr>
            <p:cNvSpPr/>
            <p:nvPr/>
          </p:nvSpPr>
          <p:spPr>
            <a:xfrm>
              <a:off x="0" y="0"/>
              <a:ext cx="497309" cy="802165"/>
            </a:xfrm>
            <a:custGeom>
              <a:avLst/>
              <a:gdLst/>
              <a:ahLst/>
              <a:cxnLst/>
              <a:rect l="l" t="t" r="r" b="b"/>
              <a:pathLst>
                <a:path w="497309" h="802165">
                  <a:moveTo>
                    <a:pt x="0" y="0"/>
                  </a:moveTo>
                  <a:lnTo>
                    <a:pt x="497309" y="0"/>
                  </a:lnTo>
                  <a:lnTo>
                    <a:pt x="497309" y="802165"/>
                  </a:lnTo>
                  <a:lnTo>
                    <a:pt x="0" y="80216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86" name="TextBox 10">
              <a:extLst>
                <a:ext uri="{FF2B5EF4-FFF2-40B4-BE49-F238E27FC236}">
                  <a16:creationId xmlns:a16="http://schemas.microsoft.com/office/drawing/2014/main" id="{A923AD9A-956E-86B4-2F33-181C99270FF3}"/>
                </a:ext>
              </a:extLst>
            </p:cNvPr>
            <p:cNvSpPr txBox="1"/>
            <p:nvPr/>
          </p:nvSpPr>
          <p:spPr>
            <a:xfrm>
              <a:off x="0" y="-19050"/>
              <a:ext cx="497309" cy="8212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0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0" y="1207562"/>
            <a:ext cx="7560000" cy="324684"/>
            <a:chOff x="0" y="0"/>
            <a:chExt cx="2709333" cy="1163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116359"/>
            </a:xfrm>
            <a:custGeom>
              <a:avLst/>
              <a:gdLst/>
              <a:ahLst/>
              <a:cxnLst/>
              <a:rect l="l" t="t" r="r" b="b"/>
              <a:pathLst>
                <a:path w="2709333" h="116359">
                  <a:moveTo>
                    <a:pt x="0" y="0"/>
                  </a:moveTo>
                  <a:lnTo>
                    <a:pt x="2709333" y="0"/>
                  </a:lnTo>
                  <a:lnTo>
                    <a:pt x="2709333" y="116359"/>
                  </a:lnTo>
                  <a:lnTo>
                    <a:pt x="0" y="116359"/>
                  </a:lnTo>
                  <a:close/>
                </a:path>
              </a:pathLst>
            </a:custGeom>
            <a:solidFill>
              <a:srgbClr val="5E787D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09333" cy="135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470894" y="1348707"/>
            <a:ext cx="1676231" cy="2238325"/>
            <a:chOff x="0" y="0"/>
            <a:chExt cx="497309" cy="8021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7309" cy="802165"/>
            </a:xfrm>
            <a:custGeom>
              <a:avLst/>
              <a:gdLst/>
              <a:ahLst/>
              <a:cxnLst/>
              <a:rect l="l" t="t" r="r" b="b"/>
              <a:pathLst>
                <a:path w="497309" h="802165">
                  <a:moveTo>
                    <a:pt x="0" y="0"/>
                  </a:moveTo>
                  <a:lnTo>
                    <a:pt x="497309" y="0"/>
                  </a:lnTo>
                  <a:lnTo>
                    <a:pt x="497309" y="802165"/>
                  </a:lnTo>
                  <a:lnTo>
                    <a:pt x="0" y="80216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497309" cy="8212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5400000">
            <a:off x="477434" y="5605133"/>
            <a:ext cx="4800955" cy="211254"/>
            <a:chOff x="0" y="0"/>
            <a:chExt cx="28709476" cy="571500"/>
          </a:xfrm>
        </p:grpSpPr>
        <p:sp>
          <p:nvSpPr>
            <p:cNvPr id="18" name="Freeform 18"/>
            <p:cNvSpPr/>
            <p:nvPr/>
          </p:nvSpPr>
          <p:spPr>
            <a:xfrm>
              <a:off x="0" y="255270"/>
              <a:ext cx="28709476" cy="69850"/>
            </a:xfrm>
            <a:custGeom>
              <a:avLst/>
              <a:gdLst/>
              <a:ahLst/>
              <a:cxnLst/>
              <a:rect l="l" t="t" r="r" b="b"/>
              <a:pathLst>
                <a:path w="28709476" h="69850">
                  <a:moveTo>
                    <a:pt x="28418647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28709476" y="69850"/>
                  </a:lnTo>
                  <a:lnTo>
                    <a:pt x="28709476" y="0"/>
                  </a:lnTo>
                  <a:close/>
                </a:path>
              </a:pathLst>
            </a:custGeom>
            <a:solidFill>
              <a:srgbClr val="5E787D"/>
            </a:solid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5" name="Freeform 25"/>
          <p:cNvSpPr/>
          <p:nvPr/>
        </p:nvSpPr>
        <p:spPr>
          <a:xfrm>
            <a:off x="322525" y="2040932"/>
            <a:ext cx="125210" cy="135994"/>
          </a:xfrm>
          <a:custGeom>
            <a:avLst/>
            <a:gdLst/>
            <a:ahLst/>
            <a:cxnLst/>
            <a:rect l="l" t="t" r="r" b="b"/>
            <a:pathLst>
              <a:path w="125210" h="135994">
                <a:moveTo>
                  <a:pt x="0" y="0"/>
                </a:moveTo>
                <a:lnTo>
                  <a:pt x="125210" y="0"/>
                </a:lnTo>
                <a:lnTo>
                  <a:pt x="125210" y="135993"/>
                </a:lnTo>
                <a:lnTo>
                  <a:pt x="0" y="1359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951" b="-13202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6" name="Freeform 26"/>
          <p:cNvSpPr/>
          <p:nvPr/>
        </p:nvSpPr>
        <p:spPr>
          <a:xfrm>
            <a:off x="322525" y="2786493"/>
            <a:ext cx="105762" cy="162269"/>
          </a:xfrm>
          <a:custGeom>
            <a:avLst/>
            <a:gdLst/>
            <a:ahLst/>
            <a:cxnLst/>
            <a:rect l="l" t="t" r="r" b="b"/>
            <a:pathLst>
              <a:path w="105762" h="162269">
                <a:moveTo>
                  <a:pt x="0" y="0"/>
                </a:moveTo>
                <a:lnTo>
                  <a:pt x="105761" y="0"/>
                </a:lnTo>
                <a:lnTo>
                  <a:pt x="105761" y="162268"/>
                </a:lnTo>
                <a:lnTo>
                  <a:pt x="0" y="1622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7" name="AutoShape 27"/>
          <p:cNvSpPr/>
          <p:nvPr/>
        </p:nvSpPr>
        <p:spPr>
          <a:xfrm>
            <a:off x="268023" y="1940482"/>
            <a:ext cx="1781696" cy="0"/>
          </a:xfrm>
          <a:prstGeom prst="line">
            <a:avLst/>
          </a:prstGeom>
          <a:ln w="9525" cap="flat">
            <a:solidFill>
              <a:srgbClr val="5E78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28" name="AutoShape 28"/>
          <p:cNvSpPr/>
          <p:nvPr/>
        </p:nvSpPr>
        <p:spPr>
          <a:xfrm>
            <a:off x="292729" y="3694883"/>
            <a:ext cx="1781696" cy="0"/>
          </a:xfrm>
          <a:prstGeom prst="line">
            <a:avLst/>
          </a:prstGeom>
          <a:ln w="9525" cap="flat">
            <a:solidFill>
              <a:srgbClr val="5E78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29" name="AutoShape 29"/>
          <p:cNvSpPr/>
          <p:nvPr/>
        </p:nvSpPr>
        <p:spPr>
          <a:xfrm>
            <a:off x="291216" y="6522006"/>
            <a:ext cx="1781696" cy="0"/>
          </a:xfrm>
          <a:prstGeom prst="line">
            <a:avLst/>
          </a:prstGeom>
          <a:ln w="9525" cap="flat">
            <a:solidFill>
              <a:srgbClr val="5E78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30" name="AutoShape 30"/>
          <p:cNvSpPr/>
          <p:nvPr/>
        </p:nvSpPr>
        <p:spPr>
          <a:xfrm>
            <a:off x="268959" y="8872155"/>
            <a:ext cx="1781696" cy="0"/>
          </a:xfrm>
          <a:prstGeom prst="line">
            <a:avLst/>
          </a:prstGeom>
          <a:ln w="9525" cap="flat">
            <a:solidFill>
              <a:srgbClr val="5E78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31" name="AutoShape 31"/>
          <p:cNvSpPr/>
          <p:nvPr/>
        </p:nvSpPr>
        <p:spPr>
          <a:xfrm flipV="1">
            <a:off x="2921576" y="2001442"/>
            <a:ext cx="4403905" cy="4762"/>
          </a:xfrm>
          <a:prstGeom prst="line">
            <a:avLst/>
          </a:prstGeom>
          <a:ln w="9525" cap="flat">
            <a:solidFill>
              <a:srgbClr val="5E78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32" name="AutoShape 32"/>
          <p:cNvSpPr/>
          <p:nvPr/>
        </p:nvSpPr>
        <p:spPr>
          <a:xfrm flipV="1">
            <a:off x="2896802" y="3298794"/>
            <a:ext cx="4403905" cy="4762"/>
          </a:xfrm>
          <a:prstGeom prst="line">
            <a:avLst/>
          </a:prstGeom>
          <a:ln w="9525" cap="flat">
            <a:solidFill>
              <a:srgbClr val="5E78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36" name="Freeform 36"/>
          <p:cNvSpPr/>
          <p:nvPr/>
        </p:nvSpPr>
        <p:spPr>
          <a:xfrm>
            <a:off x="314789" y="2280972"/>
            <a:ext cx="113498" cy="83369"/>
          </a:xfrm>
          <a:custGeom>
            <a:avLst/>
            <a:gdLst/>
            <a:ahLst/>
            <a:cxnLst/>
            <a:rect l="l" t="t" r="r" b="b"/>
            <a:pathLst>
              <a:path w="113498" h="83369">
                <a:moveTo>
                  <a:pt x="0" y="0"/>
                </a:moveTo>
                <a:lnTo>
                  <a:pt x="113498" y="0"/>
                </a:lnTo>
                <a:lnTo>
                  <a:pt x="113498" y="83369"/>
                </a:lnTo>
                <a:lnTo>
                  <a:pt x="0" y="83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7" name="TextBox 37"/>
          <p:cNvSpPr txBox="1"/>
          <p:nvPr/>
        </p:nvSpPr>
        <p:spPr>
          <a:xfrm>
            <a:off x="3009598" y="538669"/>
            <a:ext cx="3794402" cy="34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2"/>
              </a:lnSpc>
              <a:spcBef>
                <a:spcPct val="0"/>
              </a:spcBef>
            </a:pPr>
            <a:r>
              <a:rPr lang="en-US" sz="2602" b="1" dirty="0">
                <a:solidFill>
                  <a:srgbClr val="5E787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ZAMIR KRUGER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23413" y="1276501"/>
            <a:ext cx="3794402" cy="194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75"/>
              </a:lnSpc>
              <a:spcBef>
                <a:spcPct val="0"/>
              </a:spcBef>
            </a:pPr>
            <a:r>
              <a:rPr lang="en-US" sz="1125" spc="45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Junior Software Engineer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00820" y="2997123"/>
            <a:ext cx="4434261" cy="21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 spc="154" dirty="0">
                <a:solidFill>
                  <a:srgbClr val="5E787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Experience &amp; Projects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21576" y="1707212"/>
            <a:ext cx="4413505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 spc="154" dirty="0">
                <a:solidFill>
                  <a:srgbClr val="5E787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PROFILE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921576" y="2080954"/>
            <a:ext cx="4413505" cy="824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Motivated and dependable individual with a passion for innovation and problem-solving. Strong communicator who contributes positively to team morale and collaboration. Tech-savvy and committed to producing high-quality work while performing effectively in fast-paced or high-pressure environments.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081373" y="6987482"/>
            <a:ext cx="2799368" cy="1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dirty="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  <a:hlinkClick r:id="rId6"/>
              </a:rPr>
              <a:t>Game Modding– Marvel Ultimate Alliance</a:t>
            </a:r>
            <a:endParaRPr lang="en-US" sz="1000" b="1" dirty="0">
              <a:solidFill>
                <a:srgbClr val="54545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3116298" y="3641986"/>
            <a:ext cx="3040465" cy="170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fr-FR" sz="999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Technologies: HTML, CSS, JavaScript, PHP, MySQL</a:t>
            </a:r>
            <a:endParaRPr lang="en-US" sz="999" dirty="0">
              <a:solidFill>
                <a:srgbClr val="54545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6090844" y="3452950"/>
            <a:ext cx="1162891" cy="157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2026 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075886" y="3466377"/>
            <a:ext cx="2804855" cy="1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dirty="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  <a:hlinkClick r:id="rId7"/>
              </a:rPr>
              <a:t>Web-Based C2C E-Commerce Platform</a:t>
            </a:r>
            <a:endParaRPr lang="en-US" sz="1000" b="1" dirty="0">
              <a:solidFill>
                <a:srgbClr val="54545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6119217" y="5029963"/>
            <a:ext cx="1189119" cy="157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2025 - 2026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075255" y="5044390"/>
            <a:ext cx="2738191" cy="170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dirty="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  <a:hlinkClick r:id="rId8"/>
              </a:rPr>
              <a:t>Material Business Management Project</a:t>
            </a:r>
            <a:endParaRPr lang="en-US" sz="1000" b="1" dirty="0">
              <a:solidFill>
                <a:srgbClr val="54545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3076157" y="7213083"/>
            <a:ext cx="4192800" cy="990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3" lvl="1" indent="-97157" algn="just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Developed custom gameplay mods for Marvel: Ultimate Alliance, creating new character abilities, and gameplay features.</a:t>
            </a:r>
          </a:p>
          <a:p>
            <a:pPr marL="194313" lvl="1" indent="-97157" algn="just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Used XML scripting to implement character powers, talents, and combat mechanics. Integrated and customized visual effects (VFX) for character abilities and animations. </a:t>
            </a:r>
          </a:p>
          <a:p>
            <a:pPr marL="194313" lvl="1" indent="-97157" algn="just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Ensured compatibility and focused on game optimization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987715" y="3913526"/>
            <a:ext cx="4116653" cy="990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3" lvl="1" indent="-97157" algn="just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Developed a database-driven consumer-to-consumer (C2C) e-commerce website enabling users to buy and sell products online.</a:t>
            </a:r>
          </a:p>
          <a:p>
            <a:pPr marL="194313" lvl="1" indent="-97157" algn="just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Implemented user authentication, product listings with media uploads, and a messaging platform between buyers and sellers.</a:t>
            </a:r>
          </a:p>
          <a:p>
            <a:pPr marL="194313" lvl="1" indent="-97157" algn="just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Designed trust and transaction systems including seller verification, escrow-style payments, and user review/reputation features.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075255" y="5503870"/>
            <a:ext cx="4231118" cy="1324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Developed a C# console application to manage product catalogs, inventory, and customer orders for a fabric retail business. </a:t>
            </a:r>
          </a:p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Implemented dynamic pricing with bulk discounts and a flexible promotion engine for product and store-wide deals.</a:t>
            </a:r>
          </a:p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Built real-time inventory tracking with automated stock updates during order processing.</a:t>
            </a:r>
          </a:p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Added audit logging to track inventory changes and transactions with timestamps..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92195" y="3416522"/>
            <a:ext cx="1775513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 spc="154" dirty="0">
                <a:solidFill>
                  <a:srgbClr val="5E787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EDUCATION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90197" y="6300933"/>
            <a:ext cx="1780351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 spc="154" dirty="0">
                <a:solidFill>
                  <a:srgbClr val="5E787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SKILLS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84341" y="6574480"/>
            <a:ext cx="1781696" cy="1721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3" lvl="1" indent="-97157">
              <a:lnSpc>
                <a:spcPts val="1674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Problem Solving</a:t>
            </a:r>
          </a:p>
          <a:p>
            <a:pPr marL="194313" lvl="1" indent="-97157">
              <a:lnSpc>
                <a:spcPts val="1674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Tenacity</a:t>
            </a:r>
          </a:p>
          <a:p>
            <a:pPr marL="194313" lvl="1" indent="-97157" algn="l">
              <a:lnSpc>
                <a:spcPts val="1674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Adaptable</a:t>
            </a:r>
          </a:p>
          <a:p>
            <a:pPr marL="194313" lvl="1" indent="-97157" algn="l">
              <a:lnSpc>
                <a:spcPts val="1674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Teamwork &amp; Collaboration</a:t>
            </a:r>
          </a:p>
          <a:p>
            <a:pPr marL="194313" lvl="1" indent="-97157" algn="l">
              <a:lnSpc>
                <a:spcPts val="1674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Time Management</a:t>
            </a:r>
          </a:p>
          <a:p>
            <a:pPr marL="194313" lvl="1" indent="-97157" algn="l">
              <a:lnSpc>
                <a:spcPts val="1674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Leadership</a:t>
            </a:r>
          </a:p>
          <a:p>
            <a:pPr marL="194313" lvl="1" indent="-97157" algn="l">
              <a:lnSpc>
                <a:spcPts val="1674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Effective Communication</a:t>
            </a:r>
          </a:p>
          <a:p>
            <a:pPr marL="194313" lvl="1" indent="-97157" algn="l">
              <a:lnSpc>
                <a:spcPts val="1674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Critical Thinking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78251" y="3899010"/>
            <a:ext cx="1338342" cy="166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 b="1" dirty="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EDUVOS UNIVERSITY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69127" y="4125671"/>
            <a:ext cx="1785881" cy="88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35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Bachelors of Information Technology (Software Engineering)</a:t>
            </a:r>
          </a:p>
          <a:p>
            <a:pPr marL="194312" lvl="1" indent="-97156" algn="l">
              <a:lnSpc>
                <a:spcPts val="135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900" baseline="300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Year Average: 83%</a:t>
            </a:r>
          </a:p>
          <a:p>
            <a:pPr marL="194312" lvl="1" indent="-97156" algn="l">
              <a:lnSpc>
                <a:spcPts val="135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900" baseline="300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nd</a:t>
            </a: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Year Average: 84,5%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77075" y="3693447"/>
            <a:ext cx="1769983" cy="20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37"/>
              </a:lnSpc>
              <a:spcBef>
                <a:spcPct val="0"/>
              </a:spcBef>
            </a:pPr>
            <a:r>
              <a:rPr lang="en-US" sz="900" b="1" spc="72" dirty="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2024 - 2026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74952" y="5052973"/>
            <a:ext cx="1785881" cy="20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7"/>
              </a:lnSpc>
              <a:spcBef>
                <a:spcPct val="0"/>
              </a:spcBef>
            </a:pPr>
            <a:r>
              <a:rPr lang="en-US" sz="900" b="1" spc="72" dirty="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Matric Results: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65295" y="5318198"/>
            <a:ext cx="1774821" cy="16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 b="1" dirty="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MONTANA HIGH SCHOOL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68184" y="5539965"/>
            <a:ext cx="1775513" cy="526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3" lvl="1" indent="-97157" algn="l">
              <a:lnSpc>
                <a:spcPts val="135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Average of 80.5%</a:t>
            </a:r>
          </a:p>
          <a:p>
            <a:pPr marL="194313" lvl="1" indent="-97157" algn="l">
              <a:lnSpc>
                <a:spcPts val="135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89% for Information Technology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63429" y="8969664"/>
            <a:ext cx="1775513" cy="4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English (Fluent)</a:t>
            </a: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Afrikaans (Fluent)</a:t>
            </a:r>
          </a:p>
          <a:p>
            <a:pPr marL="194310" lvl="1" indent="-97155" algn="l">
              <a:lnSpc>
                <a:spcPts val="1260"/>
              </a:lnSpc>
              <a:buFont typeface="Arial"/>
              <a:buChar char="•"/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German (Basics)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64121" y="8564721"/>
            <a:ext cx="1774821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 spc="154" dirty="0">
                <a:solidFill>
                  <a:srgbClr val="5E787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LANGUAGES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15808" y="1706802"/>
            <a:ext cx="1781696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 spc="154" dirty="0">
                <a:solidFill>
                  <a:srgbClr val="5E787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CONTACT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13800" y="2011825"/>
            <a:ext cx="1590421" cy="157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+27 76 653 3503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8287" y="2234426"/>
            <a:ext cx="2101760" cy="490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  <a:hlinkClick r:id="rId9"/>
              </a:rPr>
              <a:t>     zamir7364@gmail.com</a:t>
            </a:r>
            <a:endParaRPr lang="en-US" sz="900" dirty="0">
              <a:solidFill>
                <a:srgbClr val="54545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  <a:hlinkClick r:id="rId10"/>
              </a:rPr>
              <a:t>     https://github.com/Sxoony</a:t>
            </a:r>
            <a:endParaRPr lang="en-US" sz="900" dirty="0">
              <a:solidFill>
                <a:srgbClr val="54545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  <a:hlinkClick r:id="rId11"/>
              </a:rPr>
              <a:t>  </a:t>
            </a:r>
            <a:r>
              <a:rPr lang="en-US" sz="8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  <a:hlinkClick r:id="rId11"/>
              </a:rPr>
              <a:t>www.linkedin.com/in/zamir-kruger</a:t>
            </a:r>
            <a:r>
              <a:rPr lang="en-US" sz="8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48725" y="2814679"/>
            <a:ext cx="1590421" cy="256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"/>
              </a:lnSpc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Brackenfell, Cape Town, 7560</a:t>
            </a:r>
          </a:p>
        </p:txBody>
      </p: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C0D2F463-2D94-DFF3-6F4A-63DA4210B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48" y="2389114"/>
            <a:ext cx="148554" cy="14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inkedin logo png, Linkedin icon transparent png 18930655 PNG">
            <a:extLst>
              <a:ext uri="{FF2B5EF4-FFF2-40B4-BE49-F238E27FC236}">
                <a16:creationId xmlns:a16="http://schemas.microsoft.com/office/drawing/2014/main" id="{089C1DAF-0C69-231F-6FD8-87C777322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51" y="2568632"/>
            <a:ext cx="175806" cy="17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57">
            <a:extLst>
              <a:ext uri="{FF2B5EF4-FFF2-40B4-BE49-F238E27FC236}">
                <a16:creationId xmlns:a16="http://schemas.microsoft.com/office/drawing/2014/main" id="{EAF0A1FE-A02F-176C-E449-3A9FBC515956}"/>
              </a:ext>
            </a:extLst>
          </p:cNvPr>
          <p:cNvSpPr txBox="1"/>
          <p:nvPr/>
        </p:nvSpPr>
        <p:spPr>
          <a:xfrm>
            <a:off x="3075255" y="5230963"/>
            <a:ext cx="4192800" cy="170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fr-FR" sz="999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Technologies: C#, .NET, Console Application, MySQL, OOP, CRUD </a:t>
            </a:r>
            <a:endParaRPr lang="en-US" sz="999" dirty="0">
              <a:solidFill>
                <a:srgbClr val="54545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61">
            <a:extLst>
              <a:ext uri="{FF2B5EF4-FFF2-40B4-BE49-F238E27FC236}">
                <a16:creationId xmlns:a16="http://schemas.microsoft.com/office/drawing/2014/main" id="{FA32618F-442B-A705-2339-4EA6E738D84F}"/>
              </a:ext>
            </a:extLst>
          </p:cNvPr>
          <p:cNvSpPr txBox="1"/>
          <p:nvPr/>
        </p:nvSpPr>
        <p:spPr>
          <a:xfrm>
            <a:off x="6148814" y="6957200"/>
            <a:ext cx="1189119" cy="157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2021 - 2022</a:t>
            </a:r>
          </a:p>
        </p:txBody>
      </p:sp>
      <p:sp>
        <p:nvSpPr>
          <p:cNvPr id="6" name="AutoShape 31">
            <a:extLst>
              <a:ext uri="{FF2B5EF4-FFF2-40B4-BE49-F238E27FC236}">
                <a16:creationId xmlns:a16="http://schemas.microsoft.com/office/drawing/2014/main" id="{4AC5BE38-68CF-861C-A14D-EB0687CCAFEF}"/>
              </a:ext>
            </a:extLst>
          </p:cNvPr>
          <p:cNvSpPr/>
          <p:nvPr/>
        </p:nvSpPr>
        <p:spPr>
          <a:xfrm flipV="1">
            <a:off x="2844088" y="8301295"/>
            <a:ext cx="4403905" cy="4762"/>
          </a:xfrm>
          <a:prstGeom prst="line">
            <a:avLst/>
          </a:prstGeom>
          <a:ln w="9525" cap="flat">
            <a:solidFill>
              <a:srgbClr val="5E787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377</Words>
  <Application>Microsoft Office PowerPoint</Application>
  <PresentationFormat>Custom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Poppins Bold</vt:lpstr>
      <vt:lpstr>Aptos</vt:lpstr>
      <vt:lpstr>Arial</vt:lpstr>
      <vt:lpstr>Poppins Ultra-Bold</vt:lpstr>
      <vt:lpstr>Calibri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Gray and Green Simple Professional  CV Resume</dc:title>
  <cp:lastModifiedBy>Estie Pieterser Kruger</cp:lastModifiedBy>
  <cp:revision>11</cp:revision>
  <dcterms:created xsi:type="dcterms:W3CDTF">2006-08-16T00:00:00Z</dcterms:created>
  <dcterms:modified xsi:type="dcterms:W3CDTF">2026-10-26T16:12:16Z</dcterms:modified>
  <dc:identifier>DAHDd13YmKA</dc:identifier>
</cp:coreProperties>
</file>